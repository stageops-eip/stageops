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652f4c5d74c55" /><Relationship Type="http://schemas.openxmlformats.org/officeDocument/2006/relationships/extended-properties" Target="/docProps/app.xml" Id="R329cf68e461a42d9" /><Relationship Type="http://schemas.openxmlformats.org/officeDocument/2006/relationships/officeDocument" Target="/ppt/presentation.xml" Id="Ra0be606c60604f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8e2f2c9e84101"/>
  </p:sldMasterIdLst>
  <p:notesMasterIdLst>
    <p:notesMasterId xmlns:r="http://schemas.openxmlformats.org/officeDocument/2006/relationships" r:id="Ra5360739e9704df5"/>
  </p:notesMasterIdLst>
  <p:sldIdLst>
    <p:sldId xmlns:r="http://schemas.openxmlformats.org/officeDocument/2006/relationships" id="256" r:id="R979f2912880f4c30"/>
    <p:sldId xmlns:r="http://schemas.openxmlformats.org/officeDocument/2006/relationships" id="257" r:id="R801e9ff756504568"/>
    <p:sldId xmlns:r="http://schemas.openxmlformats.org/officeDocument/2006/relationships" id="258" r:id="R8cfccc54379d4faa"/>
    <p:sldId xmlns:r="http://schemas.openxmlformats.org/officeDocument/2006/relationships" id="259" r:id="R044b20dcae314d9e"/>
    <p:sldId xmlns:r="http://schemas.openxmlformats.org/officeDocument/2006/relationships" id="260" r:id="R59690f07c3024923"/>
    <p:sldId xmlns:r="http://schemas.openxmlformats.org/officeDocument/2006/relationships" id="261" r:id="Raaf31be0662049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8d93dc03c4d4c" /><Relationship Type="http://schemas.openxmlformats.org/officeDocument/2006/relationships/slideMaster" Target="/ppt/slideMasters/slideMaster1.xml" Id="R09c8e2f2c9e84101" /><Relationship Type="http://schemas.openxmlformats.org/officeDocument/2006/relationships/notesMaster" Target="/ppt/notesMasters/notesMaster1.xml" Id="Ra5360739e9704df5" /><Relationship Type="http://schemas.openxmlformats.org/officeDocument/2006/relationships/presProps" Target="/ppt/presProps.xml" Id="Re26542127ab34e87" /><Relationship Type="http://schemas.openxmlformats.org/officeDocument/2006/relationships/tableStyles" Target="/ppt/tableStyles.xml" Id="R796c7355ddf443f4" /><Relationship Type="http://schemas.openxmlformats.org/officeDocument/2006/relationships/slide" Target="/ppt/slides/slide1.xml" Id="R979f2912880f4c30" /><Relationship Type="http://schemas.openxmlformats.org/officeDocument/2006/relationships/slide" Target="/ppt/slides/slide2.xml" Id="R801e9ff756504568" /><Relationship Type="http://schemas.openxmlformats.org/officeDocument/2006/relationships/slide" Target="/ppt/slides/slide3.xml" Id="R8cfccc54379d4faa" /><Relationship Type="http://schemas.openxmlformats.org/officeDocument/2006/relationships/slide" Target="/ppt/slides/slide4.xml" Id="R044b20dcae314d9e" /><Relationship Type="http://schemas.openxmlformats.org/officeDocument/2006/relationships/slide" Target="/ppt/slides/slide5.xml" Id="R59690f07c3024923" /><Relationship Type="http://schemas.openxmlformats.org/officeDocument/2006/relationships/slide" Target="/ppt/slides/slide6.xml" Id="Raaf31be0662049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088bf04b243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82e5a6a044bdd" /><Relationship Type="http://schemas.openxmlformats.org/officeDocument/2006/relationships/notesMaster" Target="/ppt/notesMasters/notesMaster1.xml" Id="R8891e2459bc34e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1332f8532047de" /><Relationship Type="http://schemas.openxmlformats.org/officeDocument/2006/relationships/notesMaster" Target="/ppt/notesMasters/notesMaster1.xml" Id="R8eea7d6b34e540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4af9464f3467f" /><Relationship Type="http://schemas.openxmlformats.org/officeDocument/2006/relationships/notesMaster" Target="/ppt/notesMasters/notesMaster1.xml" Id="Rc7dd249ef3bd40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5019d42854abf" /><Relationship Type="http://schemas.openxmlformats.org/officeDocument/2006/relationships/notesMaster" Target="/ppt/notesMasters/notesMaster1.xml" Id="Rc9bb2fbd17c040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df363d41d4e9e" /><Relationship Type="http://schemas.openxmlformats.org/officeDocument/2006/relationships/notesMaster" Target="/ppt/notesMasters/notesMaster1.xml" Id="Re687f8a8b757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4d8ea6c964fdc" /><Relationship Type="http://schemas.openxmlformats.org/officeDocument/2006/relationships/notesMaster" Target="/ppt/notesMasters/notesMaster1.xml" Id="R72e55d9c67c6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Ouverture : annoncer que l'objectif est de prouver l'utilité de StageOps sur un terrain réel, et pas seulement de présenter une application fonctionnelle.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les deux objectifs ont été choisis ensemble : le partenaire donne accès aux utilisateurs, puis la boucle de feedback produit des décisions que l'équipe peut prouver.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 niveau de preuve : une simple prise de contact ne suffit pas. Le résultat attendu est un accord, une action commune et un retour exploitable.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cette boucle comme la méthode standard : aucun feedback n'est considéré comme traité tant qu'une décision n'est pas tracée, puis vérifiée par un second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calendrier comme une première itération. Les semaines 1 à 4 sécurisent l'accès au terrain ; les semaines 5 à 8 transforment les constats en preuves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notre objectif n'est pas seulement d'affirmer que StageOps répond au terrain. Nous voulons le démontrer par un partenaire engagé, des retours documentés et des évolutions produit que l'on peut relier à ces retours.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de cadrage : G-EIP-600 — Track Solution, sections Establish Strategic Partnerships et Optimizing Relationships with the Target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867eb3c26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40d0c56cb4d87" /><Relationship Type="http://schemas.openxmlformats.org/officeDocument/2006/relationships/slideLayout" Target="/ppt/slideLayouts/slideLayout1.xml" Id="Rfada75f19d6146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a75f19d6146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7635d10f84f88" /><Relationship Type="http://schemas.openxmlformats.org/officeDocument/2006/relationships/image" Target="/ppt/media/image.png" Id="Rd5d1504b06bf434f" /><Relationship Type="http://schemas.openxmlformats.org/officeDocument/2006/relationships/image" Target="/ppt/media/image2.png" Id="R50548a66f39040b1" /><Relationship Type="http://schemas.openxmlformats.org/officeDocument/2006/relationships/notesSlide" Target="/ppt/notesSlides/notesSlide1.xml" Id="R1c8fd1c26699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cb832c8604198" /><Relationship Type="http://schemas.openxmlformats.org/officeDocument/2006/relationships/image" Target="/ppt/media/image3.png" Id="R72a434cb758b4b43" /><Relationship Type="http://schemas.openxmlformats.org/officeDocument/2006/relationships/notesSlide" Target="/ppt/notesSlides/notesSlide2.xml" Id="R5a6940fd6264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509d79fea4500" /><Relationship Type="http://schemas.openxmlformats.org/officeDocument/2006/relationships/image" Target="/ppt/media/image4.png" Id="Rb28243900a6e45cb" /><Relationship Type="http://schemas.openxmlformats.org/officeDocument/2006/relationships/notesSlide" Target="/ppt/notesSlides/notesSlide3.xml" Id="Rc4f66c65a6814f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e81b639084d86" /><Relationship Type="http://schemas.openxmlformats.org/officeDocument/2006/relationships/image" Target="/ppt/media/image5.png" Id="R8c3c2765f9d14213" /><Relationship Type="http://schemas.openxmlformats.org/officeDocument/2006/relationships/notesSlide" Target="/ppt/notesSlides/notesSlide4.xml" Id="R1332fabd243d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f206e4b244b70" /><Relationship Type="http://schemas.openxmlformats.org/officeDocument/2006/relationships/image" Target="/ppt/media/image6.png" Id="R69f0e58cb5a84b23" /><Relationship Type="http://schemas.openxmlformats.org/officeDocument/2006/relationships/notesSlide" Target="/ppt/notesSlides/notesSlide5.xml" Id="R1845588f6596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b3fd077ba4ccc" /><Relationship Type="http://schemas.openxmlformats.org/officeDocument/2006/relationships/image" Target="/ppt/media/image7.png" Id="Rfbb9e01464bb4a2d" /><Relationship Type="http://schemas.openxmlformats.org/officeDocument/2006/relationships/notesSlide" Target="/ppt/notesSlides/notesSlide6.xml" Id="R5472faf8f7b549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8633C-61D5-4B07-B382-1954592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4572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DA5D1-F9D7-4602-8D9E-D670501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333750" cy="33337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7964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1C2EE-9E97-4F42-BEA0-47B4176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85800"/>
            <a:ext cx="2286000" cy="2286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1504b06bf434f"/>
          <a:stretch xmlns:a="http://schemas.openxmlformats.org/drawingml/2006/main"/>
        </p:blipFill>
        <p:spPr>
          <a:xfrm xmlns:a="http://schemas.openxmlformats.org/drawingml/2006/main">
            <a:off x="9906000" y="1143000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48a66f39040b1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1E94-65EB-4C21-95BF-68EA8B41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481F8-D13C-4441-884C-5865662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B6834-5C7D-4B0C-B3BE-2E553F7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3B435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586FF"/>
                </a:solidFill>
                <a:latin typeface="Arial"/>
                <a:ea typeface="Arial"/>
                <a:cs typeface="Arial"/>
              </a:rPr>
              <a:t>PLAN EIP • 8 SEMAINES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8E0B9-DF67-4C1F-AA9F-351D184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Transformer le terrain</a:t>
            </a:r>
          </a:p>
          <a:p xmlns:a="http://schemas.openxmlformats.org/drawingml/2006/main">
            <a:pPr algn="l">
              <a:defRPr sz="40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en preuves produit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1386C-A022-4E2A-AE56-64FE03B3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Partenariats stratégiques + relation avec le public 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0721E-26B7-4F85-BE02-235CB3B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6962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435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E6576-6168-4B8C-B83C-7867256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Objectifs complémentaires • plan d'exécution • preuves jury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88335-7B12-4D9F-8057-389EDC4E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StageOps — Plateforme de gestion technique pour le spectacle vivant</a:t>
            </a:r>
          </a:p>
        </p:txBody>
      </p:sp>
    </p:spTree>
    <p:extLst>
      <p:ext uri="{BB962C8B-B14F-4D97-AF65-F5344CB8AC3E}">
        <p14:creationId xmlns:p14="http://schemas.microsoft.com/office/powerpoint/2010/main" val="1284753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434cb758b4b43"/>
          <a:stretch xmlns:a="http://schemas.openxmlformats.org/drawingml/2006/main"/>
        </p:blipFill>
        <p:spPr>
          <a:xfrm xmlns:a="http://schemas.openxmlformats.org/drawingml/2006/main">
            <a:off x="495300" y="285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8325-BABE-4D78-B729-DCFFE25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761BB-9937-4CA2-8789-9E208CAE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B319F-9462-4862-8AEF-349233B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4A9B7"/>
                </a:solidFill>
                <a:latin typeface="Arial"/>
                <a:ea typeface="Arial"/>
                <a:cs typeface="Arial"/>
              </a:rPr>
              <a:t>LE CHOIX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3A316-3757-408A-A8A6-49D5B90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Deux objectifs, une seule boucle de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3B3BE-AD0B-46B3-B08D-8D6A9D2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D7957-8E13-45B0-8F31-D4BC1F6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83892-5591-45B9-9196-69EBBC0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84125-A091-46B6-826E-30EE5E1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9525">
            <a:solidFill>
              <a:srgbClr val="7964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96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96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4F123-D53E-47B3-9DE1-E595195E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81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Partenariat stratégique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48F9-B773-428E-A0AF-E381363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2100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Un théâtre, festival, prestataire ou établissement culturel nous ouvre un terrain réel.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Il apporte de la crédibilité, des contraintes métier et un cadre pour réaliser un pilote.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5C4B9-2B3A-4722-AF48-EFF2C198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4C329-E7DD-45B3-99D9-7CDB611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E60ED-E65F-475C-94CF-2098439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9525">
            <a:solidFill>
              <a:srgbClr val="3977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E0ADF-A96A-4A30-A872-2FB2031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81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Relation utilisateurs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B3290-2F54-4069-AE15-3823565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42100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Les régisseurs et techniciens testent les usages prioritaires.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Leurs retours sont synthétisés, reliés aux issues et transformés en évolutions mesurables.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94301-7D34-4918-BC5C-73646717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43250"/>
            <a:ext cx="990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586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E9B87-65CB-4D6A-B9BC-E86E4C2E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048000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7C33D-7668-4AF0-AC40-CC9A3DA6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05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ouvre le terrain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C925D-7CC0-4E3D-AC09-939D0E4E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752475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3B43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12C8D-CF94-45D1-AD57-2D8CE177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95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7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Partenaire → utilisateurs → retours → décisions → évolution → nouveau test</a:t>
            </a:r>
          </a:p>
        </p:txBody>
      </p:sp>
    </p:spTree>
    <p:extLst>
      <p:ext uri="{BB962C8B-B14F-4D97-AF65-F5344CB8AC3E}">
        <p14:creationId xmlns:p14="http://schemas.microsoft.com/office/powerpoint/2010/main" val="1875680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243900a6e45cb"/>
          <a:stretch xmlns:a="http://schemas.openxmlformats.org/drawingml/2006/main"/>
        </p:blipFill>
        <p:spPr>
          <a:xfrm xmlns:a="http://schemas.openxmlformats.org/drawingml/2006/main">
            <a:off x="495300" y="285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9FA00-790D-44AE-869F-F745FDC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A3E67-0230-4091-91CE-23EA9A1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04571-3798-49DF-A559-65B30CC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4A9B7"/>
                </a:solidFill>
                <a:latin typeface="Arial"/>
                <a:ea typeface="Arial"/>
                <a:cs typeface="Arial"/>
              </a:rPr>
              <a:t>PARTENARIATS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F1F46-0948-45AC-944B-A3FC9CCB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Objectif 1 — Obtenir une collaboration réelle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42E31-4096-4CED-B420-8FEB059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1BF57-32CD-42EB-8FD1-419BC50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3420A-8C2F-4CCD-8678-0F1B8935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7964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586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8E345-09DC-4817-BD4C-A5642428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Cibler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7E425-B18A-47A3-A5DD-586C584D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2 à 3 profils</a:t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pertinents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430F6-1ED3-4930-8182-CB2BE3A7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26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4BCC1-80E7-45AC-8A2C-6A34F4BC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28975" y="2876550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BEECD-F8F3-4156-8A2D-C9CF73C5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23B66-150A-46B1-AFC1-50413093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43125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7964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586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588F7-3DD5-4BFF-84F1-0A0192A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Contacter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EF800-5D2A-4DBB-82D4-C70BFB4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5 approches</a:t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personnalisées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B7EB6-4767-4B36-A394-EC9DC4E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26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3135E-7975-4B62-9FF8-6278768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10275" y="2876550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BD292-8CEC-45B4-BBC3-967A7AD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65A42-8371-489C-8332-CB54070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7964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586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B2E04-7DEE-4A1C-A049-2634890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Formaliser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17302-0203-46DF-ADDE-4E79CBB6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périmètre + accord</a:t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écrit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B0CB6-A3C7-49D4-8590-4BAFF30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6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8E1AE-1A90-4485-99D0-ED18CA67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91575" y="2876550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14360-EE31-4DCC-8EB2-51415D7D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5EA0A-DF51-4574-B470-87B4FEF6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22C55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94BAC-5DC7-44B4-80A7-A9C67AB8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Piloter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C40E3-6F72-447F-BF29-EF1C5B1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test terrain +</a:t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témoignage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BCCD0-415F-4F8A-9A39-2CA91789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879B"/>
                </a:solidFill>
                <a:latin typeface="Arial"/>
                <a:ea typeface="Arial"/>
                <a:cs typeface="Arial"/>
              </a:rPr>
              <a:t>CIBLES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30EF3-E0E7-4400-81FA-7022BD8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76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théâtre • salle de concert • festival • école • prestataire technique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B2BE7-4F2F-4427-BCC0-4CFA03D1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3B43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C0378-7AC1-4653-9794-915A90E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Critère de réussite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640E1-57F6-4A35-8513-0A8DE565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1 collaboration écrite  •  1 mini-pilote  •  1 résultat concret  •  1 témoignage</a:t>
            </a:r>
          </a:p>
        </p:txBody>
      </p:sp>
    </p:spTree>
    <p:extLst>
      <p:ext uri="{BB962C8B-B14F-4D97-AF65-F5344CB8AC3E}">
        <p14:creationId xmlns:p14="http://schemas.microsoft.com/office/powerpoint/2010/main" val="362162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c2765f9d14213"/>
          <a:stretch xmlns:a="http://schemas.openxmlformats.org/drawingml/2006/main"/>
        </p:blipFill>
        <p:spPr>
          <a:xfrm xmlns:a="http://schemas.openxmlformats.org/drawingml/2006/main">
            <a:off x="495300" y="285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68FEA-B34B-488F-9132-3F1A4E09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3D9D-493A-4303-8AB1-2E91512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D413B-B3D5-49BB-BDDF-00BEE52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4A9B7"/>
                </a:solidFill>
                <a:latin typeface="Arial"/>
                <a:ea typeface="Arial"/>
                <a:cs typeface="Arial"/>
              </a:rPr>
              <a:t>UTILISATEURS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263A7-0D0B-4069-956D-ED7D95E8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Objectif 2 — Transformer les retours en produit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DC3F-ED7D-4797-8B58-4DD21525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4F546-4080-4535-8FF5-61CE1AB8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7964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7459A-F803-4145-84DB-17EC71F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96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A1773-AA74-4D85-A121-77B92A1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Tester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2EAF2-774C-4688-8D52-6321694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scénario réel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E6CDB-F47E-4053-8F12-3B7F297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0F247-FB8D-45AD-A4ED-A36AAE1E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43175" y="2828925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BD8E5-036E-4E3A-B1AA-94B3250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397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A5160-D988-4A84-B8EA-E6B082E0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97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12B11-7A13-4029-8835-794558A5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Analyser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85894-FED6-47C9-9F44-A2DA7241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916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verbatims + fréquence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63B5E-82FA-4F76-AC9B-7E53A94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241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976F7-6491-4040-8C4C-7CFAA5A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2828925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344FE-77B8-4B8D-A883-F66AD8E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7964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CC87D-8AE6-4C2C-8D3C-375849B0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96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4469D-F293-4549-8C3E-BF233D1E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Décider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05BB9-6F71-4497-8E6C-5A2A3EFC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priorité + issue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9109B-523C-4BA9-8F3F-AA9F6AEE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241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6FAFC-D9DC-4114-A80B-18DB94EB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53275" y="2828925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B47EC-5ED1-43F9-B722-4714B50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9550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3977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76F83-B362-4B48-9A1E-60D52CA1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97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7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C9C6B-B716-4071-A1F6-9C24505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Développer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090E5D-2B23-4A24-8413-51C0773C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33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évolution visible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D6DCF-B94A-40BE-925D-580A492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24175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43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AA31A-8A04-454B-8E2A-F0EB54E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58325" y="2828925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D93F7-0F80-447E-99FA-95D36195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318C3-DC47-405A-8ACE-52E0473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2C55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97A7B-569D-4A22-AA43-6B1D00BE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Retester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BC59EC-E606-444B-95DB-95DEBE04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33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effet mesuré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DF003C-5528-4BCF-B8DE-1D435CC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95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C55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C04E6-C6F5-411E-910F-FC0F2F7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868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C55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DA179-A97B-4CC0-B76E-F2A9C5BF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62400"/>
            <a:ext cx="95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C55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DBA2BB-E97E-4A17-8817-02420F90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857625"/>
            <a:ext cx="190500" cy="190500"/>
          </a:xfrm>
          <a:prstGeom xmlns:a="http://schemas.openxmlformats.org/drawingml/2006/main" prst="triangle">
            <a:avLst/>
          </a:prstGeom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306B6B-037E-4381-946C-267C2DA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48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2C55E"/>
                </a:solidFill>
                <a:latin typeface="Arial"/>
                <a:ea typeface="Arial"/>
                <a:cs typeface="Arial"/>
              </a:rPr>
              <a:t>boucle suivante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F86A3E-7072-466C-9F6A-055716E5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91125"/>
            <a:ext cx="94107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BA8E8C-3811-440F-B3DC-5A6379B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625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Cible : 6–10 testeurs externes  •  2 cycles de retours  •  2 évolutions justifiées</a:t>
            </a:r>
          </a:p>
        </p:txBody>
      </p:sp>
    </p:spTree>
    <p:extLst>
      <p:ext uri="{BB962C8B-B14F-4D97-AF65-F5344CB8AC3E}">
        <p14:creationId xmlns:p14="http://schemas.microsoft.com/office/powerpoint/2010/main" val="1542543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0e58cb5a84b23"/>
          <a:stretch xmlns:a="http://schemas.openxmlformats.org/drawingml/2006/main"/>
        </p:blipFill>
        <p:spPr>
          <a:xfrm xmlns:a="http://schemas.openxmlformats.org/drawingml/2006/main">
            <a:off x="495300" y="285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C5E6A-24DE-49D8-B8BC-7CB7E57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C0002-A077-49B2-B747-34774346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0BB97-EDB9-41C9-960A-F927D53F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4A9B7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36E43-0B08-4E05-A907-6BE4874A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Huit semaines pour produire des preuves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21DAF-8681-4892-9629-7E7B1E6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9E54-0CFE-4B64-B2E3-8F46709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998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435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DE1A2-38CA-4C92-98BB-3C1828EB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964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964FF"/>
                </a:solidFill>
                <a:latin typeface="Arial"/>
                <a:ea typeface="Arial"/>
                <a:cs typeface="Arial"/>
              </a:rPr>
              <a:t>S1–S2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64F54-CC44-49DB-8457-1A0A8C64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7964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96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64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48B8E-7E0E-4506-A4A7-F7597C29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0D1DF-4398-4F27-83BF-821E8FD6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Préparer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F72D0-B2E5-40CC-BB68-8789223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62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cartographie, proposition de valeur, guide d'entretien, protocole de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E9988-1B12-4D33-B4B3-A670D28A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38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97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7FF"/>
                </a:solidFill>
                <a:latin typeface="Arial"/>
                <a:ea typeface="Arial"/>
                <a:cs typeface="Arial"/>
              </a:rPr>
              <a:t>S3–S4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4279C-D1F6-4697-BDA1-C2FCBD7E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977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AB4E8-F5CE-4127-BA01-091F2ED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7187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65142-5AA8-409E-B9D6-20520254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433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Rencontrer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AEF7E-575E-4A29-82AF-3BD5BF6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91000"/>
            <a:ext cx="1962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contacts, rendez-vous, premiers entretiens et première session de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CCEDE-199A-45FC-8717-4E6690DF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38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S5–S7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B0E82-E53E-4EB4-AB5F-1BD1ABD5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FFECC-143E-4B6B-8DBD-0BD0D3E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7CB75-9C7A-4D45-8025-18F84C3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433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Construire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1596B-5DBD-4401-85CA-FDA8169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1962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synthèse, décisions, issues, développement et documentation Wiki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D5FB7-DED3-4A41-80E2-630F0A1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38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2C55E"/>
                </a:solidFill>
                <a:latin typeface="Arial"/>
                <a:ea typeface="Arial"/>
                <a:cs typeface="Arial"/>
              </a:rPr>
              <a:t>S8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8E189-6424-4311-B4FD-0BCA33C5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00350"/>
            <a:ext cx="438150" cy="4381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22C55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84D61-9F30-4500-A75D-1251A7C9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7187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4AD80-1B5F-41D2-8798-437B3B57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433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Prouver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CE541-5E2F-41DC-AABE-954CC7EF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1962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second test, avant/après, résultats du pilote et témoignage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72712-49A8-4791-B746-580A2792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918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Chaque phase se termine par un livrable visible dans GitHub Project et dans le Wiki.</a:t>
            </a:r>
          </a:p>
        </p:txBody>
      </p:sp>
    </p:spTree>
    <p:extLst>
      <p:ext uri="{BB962C8B-B14F-4D97-AF65-F5344CB8AC3E}">
        <p14:creationId xmlns:p14="http://schemas.microsoft.com/office/powerpoint/2010/main" val="1651531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9e01464bb4a2d"/>
          <a:stretch xmlns:a="http://schemas.openxmlformats.org/drawingml/2006/main"/>
        </p:blipFill>
        <p:spPr>
          <a:xfrm xmlns:a="http://schemas.openxmlformats.org/drawingml/2006/main">
            <a:off x="495300" y="285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1ED45-717A-43F5-B4A5-61150C53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58F29-81B4-4EB6-8876-81950572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586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586FF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3D460-AEFA-4C54-9878-DFA3F17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252B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4A9B7"/>
                </a:solidFill>
                <a:latin typeface="Arial"/>
                <a:ea typeface="Arial"/>
                <a:cs typeface="Arial"/>
              </a:rPr>
              <a:t>RÉSULTAT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DB63-85EF-4BA8-B433-0355671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Ce que nous montrerons au jury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41380-D65E-41AE-A4F6-2B98A1B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F87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F87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BA4FC-7401-4D77-8C8F-5EB71D9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191125" cy="3276600"/>
          </a:xfrm>
          <a:prstGeom xmlns:a="http://schemas.openxmlformats.org/drawingml/2006/main" prst="roundRect">
            <a:avLst>
              <a:gd name="adj" fmla="val 2326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44F8F-257B-4ABA-BB64-9F9FE57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6675" cy="32766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BFF0C-A316-46C3-9BF5-B9652B66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733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Preuves partenariat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6E3A3-6E45-48D8-B696-88240FB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733925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carte des acteurs et critères de choix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messages et rendez-vous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accord ou confirmation écrite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résultat du mini-pilote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témoignage du partenaire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86F38-6FB3-42AE-A104-9259952B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5191125" cy="3276600"/>
          </a:xfrm>
          <a:prstGeom xmlns:a="http://schemas.openxmlformats.org/drawingml/2006/main" prst="roundRect">
            <a:avLst>
              <a:gd name="adj" fmla="val 2326"/>
            </a:avLst>
          </a:prstGeom>
          <a:ln xmlns:a="http://schemas.openxmlformats.org/drawingml/2006/main" w="9525">
            <a:solidFill>
              <a:srgbClr val="252B3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ACAE9-FB95-44EC-B65F-6AD2393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66675" cy="32766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71151-A9B8-4C81-AE46-EF4CC74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62150"/>
            <a:ext cx="4733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Preuves utilisateurs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B329E-73F0-4166-8B99-00C2714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4733925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profils, formulaires et verbatims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synthèse qualitative et quantitative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issues et décisions produit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deux captures avant / après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A4A9B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A9B7"/>
                </a:solidFill>
                <a:latin typeface="Arial"/>
                <a:ea typeface="Arial"/>
                <a:cs typeface="Arial"/>
              </a:rPr>
              <a:t>✓ résultat du second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C1D40-6F24-4283-9A0A-C1F1DDE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817E8-4A20-4DFA-A302-7675DCE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16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3F1E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1EB"/>
                </a:solidFill>
                <a:latin typeface="Arial"/>
                <a:ea typeface="Arial"/>
                <a:cs typeface="Arial"/>
              </a:rPr>
              <a:t>Le jury verra 1 partenaire engagé et 2 évolutions directement reliées à des retours externes.</a:t>
            </a:r>
          </a:p>
        </p:txBody>
      </p:sp>
    </p:spTree>
    <p:extLst>
      <p:ext uri="{BB962C8B-B14F-4D97-AF65-F5344CB8AC3E}">
        <p14:creationId xmlns:p14="http://schemas.microsoft.com/office/powerpoint/2010/main" val="642472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2026-10-02T09:15:15.0940000Z</dcterms:created>
  <dcterms:modified xsi:type="dcterms:W3CDTF">2026-10-02T09:15:15.0940000Z</dcterms:modified>
</coreProperties>
</file>